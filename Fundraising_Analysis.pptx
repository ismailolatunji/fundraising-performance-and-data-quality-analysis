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88E96-C1A4-4B5E-9286-5E7551EF022B}" v="358" dt="2026-03-16T13:35:27.429"/>
    <p1510:client id="{E7CE1EEA-0A56-4106-BDA3-6F3F4F74D25C}" v="9" dt="2026-03-17T12:36:19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mail Olatunji" userId="abd1130d9666c805" providerId="LiveId" clId="{18464ED9-D618-4E2C-ADB6-EFDB37455724}"/>
    <pc:docChg chg="undo custSel modSld">
      <pc:chgData name="Ismail Olatunji" userId="abd1130d9666c805" providerId="LiveId" clId="{18464ED9-D618-4E2C-ADB6-EFDB37455724}" dt="2026-03-17T12:36:32.313" v="67" actId="1076"/>
      <pc:docMkLst>
        <pc:docMk/>
      </pc:docMkLst>
      <pc:sldChg chg="delSp modSp mod">
        <pc:chgData name="Ismail Olatunji" userId="abd1130d9666c805" providerId="LiveId" clId="{18464ED9-D618-4E2C-ADB6-EFDB37455724}" dt="2026-03-17T11:53:20.269" v="60" actId="1076"/>
        <pc:sldMkLst>
          <pc:docMk/>
          <pc:sldMk cId="3577192620" sldId="256"/>
        </pc:sldMkLst>
        <pc:spChg chg="mod">
          <ac:chgData name="Ismail Olatunji" userId="abd1130d9666c805" providerId="LiveId" clId="{18464ED9-D618-4E2C-ADB6-EFDB37455724}" dt="2026-03-17T11:53:14.938" v="59" actId="1076"/>
          <ac:spMkLst>
            <pc:docMk/>
            <pc:sldMk cId="3577192620" sldId="256"/>
            <ac:spMk id="3" creationId="{CC899BDF-4132-DC87-1FF9-EBEC0F77D145}"/>
          </ac:spMkLst>
        </pc:spChg>
        <pc:spChg chg="mod">
          <ac:chgData name="Ismail Olatunji" userId="abd1130d9666c805" providerId="LiveId" clId="{18464ED9-D618-4E2C-ADB6-EFDB37455724}" dt="2026-03-17T11:53:20.269" v="60" actId="1076"/>
          <ac:spMkLst>
            <pc:docMk/>
            <pc:sldMk cId="3577192620" sldId="256"/>
            <ac:spMk id="4" creationId="{73ECB79B-BF42-4A30-E21A-8AB9E395EADB}"/>
          </ac:spMkLst>
        </pc:spChg>
        <pc:spChg chg="del">
          <ac:chgData name="Ismail Olatunji" userId="abd1130d9666c805" providerId="LiveId" clId="{18464ED9-D618-4E2C-ADB6-EFDB37455724}" dt="2026-03-17T11:49:14.254" v="33" actId="478"/>
          <ac:spMkLst>
            <pc:docMk/>
            <pc:sldMk cId="3577192620" sldId="256"/>
            <ac:spMk id="5" creationId="{A2729AE5-6729-04C9-3797-828C34E65DED}"/>
          </ac:spMkLst>
        </pc:spChg>
      </pc:sldChg>
      <pc:sldChg chg="modSp mod">
        <pc:chgData name="Ismail Olatunji" userId="abd1130d9666c805" providerId="LiveId" clId="{18464ED9-D618-4E2C-ADB6-EFDB37455724}" dt="2026-03-17T11:52:48.083" v="58" actId="12788"/>
        <pc:sldMkLst>
          <pc:docMk/>
          <pc:sldMk cId="1836707675" sldId="258"/>
        </pc:sldMkLst>
        <pc:spChg chg="mod">
          <ac:chgData name="Ismail Olatunji" userId="abd1130d9666c805" providerId="LiveId" clId="{18464ED9-D618-4E2C-ADB6-EFDB37455724}" dt="2026-03-17T11:52:48.083" v="58" actId="12788"/>
          <ac:spMkLst>
            <pc:docMk/>
            <pc:sldMk cId="1836707675" sldId="258"/>
            <ac:spMk id="3" creationId="{72742D04-0233-9C2B-6654-8204BF66EDFA}"/>
          </ac:spMkLst>
        </pc:spChg>
      </pc:sldChg>
      <pc:sldChg chg="modSp mod">
        <pc:chgData name="Ismail Olatunji" userId="abd1130d9666c805" providerId="LiveId" clId="{18464ED9-D618-4E2C-ADB6-EFDB37455724}" dt="2026-03-17T11:52:26.337" v="55" actId="1076"/>
        <pc:sldMkLst>
          <pc:docMk/>
          <pc:sldMk cId="1844297273" sldId="259"/>
        </pc:sldMkLst>
        <pc:spChg chg="mod">
          <ac:chgData name="Ismail Olatunji" userId="abd1130d9666c805" providerId="LiveId" clId="{18464ED9-D618-4E2C-ADB6-EFDB37455724}" dt="2026-03-17T11:52:15.450" v="53" actId="12788"/>
          <ac:spMkLst>
            <pc:docMk/>
            <pc:sldMk cId="1844297273" sldId="259"/>
            <ac:spMk id="5" creationId="{9F70832B-DB7C-AB21-6AD9-9E8CEF6775EE}"/>
          </ac:spMkLst>
        </pc:spChg>
        <pc:graphicFrameChg chg="mod">
          <ac:chgData name="Ismail Olatunji" userId="abd1130d9666c805" providerId="LiveId" clId="{18464ED9-D618-4E2C-ADB6-EFDB37455724}" dt="2026-03-17T11:52:22.004" v="54" actId="1076"/>
          <ac:graphicFrameMkLst>
            <pc:docMk/>
            <pc:sldMk cId="1844297273" sldId="259"/>
            <ac:graphicFrameMk id="3" creationId="{F090070C-F21E-5272-2291-CFD680CDCDA8}"/>
          </ac:graphicFrameMkLst>
        </pc:graphicFrameChg>
        <pc:graphicFrameChg chg="mod">
          <ac:chgData name="Ismail Olatunji" userId="abd1130d9666c805" providerId="LiveId" clId="{18464ED9-D618-4E2C-ADB6-EFDB37455724}" dt="2026-03-17T11:52:26.337" v="55" actId="1076"/>
          <ac:graphicFrameMkLst>
            <pc:docMk/>
            <pc:sldMk cId="1844297273" sldId="259"/>
            <ac:graphicFrameMk id="4" creationId="{B233D3F3-BA43-D61A-1187-2B11177D2D56}"/>
          </ac:graphicFrameMkLst>
        </pc:graphicFrameChg>
      </pc:sldChg>
      <pc:sldChg chg="modSp mod">
        <pc:chgData name="Ismail Olatunji" userId="abd1130d9666c805" providerId="LiveId" clId="{18464ED9-D618-4E2C-ADB6-EFDB37455724}" dt="2026-03-17T12:36:32.313" v="67" actId="1076"/>
        <pc:sldMkLst>
          <pc:docMk/>
          <pc:sldMk cId="1287576066" sldId="260"/>
        </pc:sldMkLst>
        <pc:spChg chg="mod">
          <ac:chgData name="Ismail Olatunji" userId="abd1130d9666c805" providerId="LiveId" clId="{18464ED9-D618-4E2C-ADB6-EFDB37455724}" dt="2026-03-17T11:51:58.785" v="50" actId="12788"/>
          <ac:spMkLst>
            <pc:docMk/>
            <pc:sldMk cId="1287576066" sldId="260"/>
            <ac:spMk id="4" creationId="{2004EF5E-6467-DC85-C74F-0FD70A41CFA4}"/>
          </ac:spMkLst>
        </pc:spChg>
        <pc:spChg chg="mod">
          <ac:chgData name="Ismail Olatunji" userId="abd1130d9666c805" providerId="LiveId" clId="{18464ED9-D618-4E2C-ADB6-EFDB37455724}" dt="2026-03-17T12:36:32.313" v="67" actId="1076"/>
          <ac:spMkLst>
            <pc:docMk/>
            <pc:sldMk cId="1287576066" sldId="260"/>
            <ac:spMk id="7" creationId="{19BE7325-576A-E718-CD5F-A5519A1D4A60}"/>
          </ac:spMkLst>
        </pc:spChg>
        <pc:graphicFrameChg chg="mod">
          <ac:chgData name="Ismail Olatunji" userId="abd1130d9666c805" providerId="LiveId" clId="{18464ED9-D618-4E2C-ADB6-EFDB37455724}" dt="2026-03-17T11:48:25.085" v="26" actId="14100"/>
          <ac:graphicFrameMkLst>
            <pc:docMk/>
            <pc:sldMk cId="1287576066" sldId="260"/>
            <ac:graphicFrameMk id="3" creationId="{8B69366C-8496-28B4-CD4D-439E4582ECD4}"/>
          </ac:graphicFrameMkLst>
        </pc:graphicFrameChg>
        <pc:graphicFrameChg chg="mod">
          <ac:chgData name="Ismail Olatunji" userId="abd1130d9666c805" providerId="LiveId" clId="{18464ED9-D618-4E2C-ADB6-EFDB37455724}" dt="2026-03-17T11:48:13.651" v="24" actId="14100"/>
          <ac:graphicFrameMkLst>
            <pc:docMk/>
            <pc:sldMk cId="1287576066" sldId="260"/>
            <ac:graphicFrameMk id="5" creationId="{C03FC259-DFB9-AADB-DBAE-E071AE69C759}"/>
          </ac:graphicFrameMkLst>
        </pc:graphicFrameChg>
        <pc:graphicFrameChg chg="mod">
          <ac:chgData name="Ismail Olatunji" userId="abd1130d9666c805" providerId="LiveId" clId="{18464ED9-D618-4E2C-ADB6-EFDB37455724}" dt="2026-03-17T11:47:55.287" v="20" actId="14100"/>
          <ac:graphicFrameMkLst>
            <pc:docMk/>
            <pc:sldMk cId="1287576066" sldId="260"/>
            <ac:graphicFrameMk id="6" creationId="{58DB43A2-5E86-E695-486A-E82BE91FAE1E}"/>
          </ac:graphicFrameMkLst>
        </pc:graphicFrameChg>
      </pc:sldChg>
      <pc:sldChg chg="delSp modSp mod">
        <pc:chgData name="Ismail Olatunji" userId="abd1130d9666c805" providerId="LiveId" clId="{18464ED9-D618-4E2C-ADB6-EFDB37455724}" dt="2026-03-17T11:49:05.169" v="32" actId="478"/>
        <pc:sldMkLst>
          <pc:docMk/>
          <pc:sldMk cId="1899549131" sldId="261"/>
        </pc:sldMkLst>
        <pc:spChg chg="mod">
          <ac:chgData name="Ismail Olatunji" userId="abd1130d9666c805" providerId="LiveId" clId="{18464ED9-D618-4E2C-ADB6-EFDB37455724}" dt="2026-03-17T11:47:31.923" v="16" actId="1076"/>
          <ac:spMkLst>
            <pc:docMk/>
            <pc:sldMk cId="1899549131" sldId="261"/>
            <ac:spMk id="3" creationId="{794CCE69-D61B-C870-6FF1-B1B8F36769C7}"/>
          </ac:spMkLst>
        </pc:spChg>
        <pc:spChg chg="del mod">
          <ac:chgData name="Ismail Olatunji" userId="abd1130d9666c805" providerId="LiveId" clId="{18464ED9-D618-4E2C-ADB6-EFDB37455724}" dt="2026-03-17T11:49:05.169" v="32" actId="478"/>
          <ac:spMkLst>
            <pc:docMk/>
            <pc:sldMk cId="1899549131" sldId="261"/>
            <ac:spMk id="4" creationId="{C7AA1A5F-8A0D-9175-B659-1ED5BE153341}"/>
          </ac:spMkLst>
        </pc:spChg>
      </pc:sldChg>
    </pc:docChg>
  </pc:docChgLst>
  <pc:docChgLst>
    <pc:chgData name="Beacon Hope" userId="181eac675c641a7c" providerId="LiveId" clId="{76E44806-494F-436A-B8C0-A83D49D02F07}"/>
    <pc:docChg chg="undo redo custSel modSld">
      <pc:chgData name="Beacon Hope" userId="181eac675c641a7c" providerId="LiveId" clId="{76E44806-494F-436A-B8C0-A83D49D02F07}" dt="2026-03-16T13:44:58.962" v="1254" actId="12788"/>
      <pc:docMkLst>
        <pc:docMk/>
      </pc:docMkLst>
      <pc:sldChg chg="modSp mod setBg">
        <pc:chgData name="Beacon Hope" userId="181eac675c641a7c" providerId="LiveId" clId="{76E44806-494F-436A-B8C0-A83D49D02F07}" dt="2026-03-16T13:26:49.373" v="1187" actId="20577"/>
        <pc:sldMkLst>
          <pc:docMk/>
          <pc:sldMk cId="3577192620" sldId="256"/>
        </pc:sldMkLst>
        <pc:spChg chg="mod">
          <ac:chgData name="Beacon Hope" userId="181eac675c641a7c" providerId="LiveId" clId="{76E44806-494F-436A-B8C0-A83D49D02F07}" dt="2026-03-16T12:43:06.009" v="1039" actId="113"/>
          <ac:spMkLst>
            <pc:docMk/>
            <pc:sldMk cId="3577192620" sldId="256"/>
            <ac:spMk id="2" creationId="{EDDD3ECE-D856-990D-742E-D5064E425DCF}"/>
          </ac:spMkLst>
        </pc:spChg>
        <pc:spChg chg="mod">
          <ac:chgData name="Beacon Hope" userId="181eac675c641a7c" providerId="LiveId" clId="{76E44806-494F-436A-B8C0-A83D49D02F07}" dt="2026-03-16T12:44:58.496" v="1045" actId="1076"/>
          <ac:spMkLst>
            <pc:docMk/>
            <pc:sldMk cId="3577192620" sldId="256"/>
            <ac:spMk id="9" creationId="{CE743126-4861-979C-B383-C27301E4DB60}"/>
          </ac:spMkLst>
        </pc:spChg>
        <pc:spChg chg="mod">
          <ac:chgData name="Beacon Hope" userId="181eac675c641a7c" providerId="LiveId" clId="{76E44806-494F-436A-B8C0-A83D49D02F07}" dt="2026-03-16T13:26:49.373" v="1187" actId="20577"/>
          <ac:spMkLst>
            <pc:docMk/>
            <pc:sldMk cId="3577192620" sldId="256"/>
            <ac:spMk id="10" creationId="{C743D34E-4E40-39A8-6BF4-F90627BD3C0E}"/>
          </ac:spMkLst>
        </pc:spChg>
        <pc:spChg chg="mod">
          <ac:chgData name="Beacon Hope" userId="181eac675c641a7c" providerId="LiveId" clId="{76E44806-494F-436A-B8C0-A83D49D02F07}" dt="2026-03-16T13:25:49.971" v="1138" actId="6549"/>
          <ac:spMkLst>
            <pc:docMk/>
            <pc:sldMk cId="3577192620" sldId="256"/>
            <ac:spMk id="11" creationId="{E22701C1-9F6E-E3CD-E0DD-D3245B51CDA5}"/>
          </ac:spMkLst>
        </pc:spChg>
      </pc:sldChg>
      <pc:sldChg chg="modSp mod setBg">
        <pc:chgData name="Beacon Hope" userId="181eac675c641a7c" providerId="LiveId" clId="{76E44806-494F-436A-B8C0-A83D49D02F07}" dt="2026-03-16T13:43:35.336" v="1246" actId="1076"/>
        <pc:sldMkLst>
          <pc:docMk/>
          <pc:sldMk cId="1836707675" sldId="258"/>
        </pc:sldMkLst>
        <pc:spChg chg="mod">
          <ac:chgData name="Beacon Hope" userId="181eac675c641a7c" providerId="LiveId" clId="{76E44806-494F-436A-B8C0-A83D49D02F07}" dt="2026-03-16T13:43:19.905" v="1244" actId="1076"/>
          <ac:spMkLst>
            <pc:docMk/>
            <pc:sldMk cId="1836707675" sldId="258"/>
            <ac:spMk id="2" creationId="{105BFCC3-D99A-73A0-59A2-97184C63B094}"/>
          </ac:spMkLst>
        </pc:spChg>
        <pc:graphicFrameChg chg="mod">
          <ac:chgData name="Beacon Hope" userId="181eac675c641a7c" providerId="LiveId" clId="{76E44806-494F-436A-B8C0-A83D49D02F07}" dt="2026-03-16T13:43:30.115" v="1245" actId="1076"/>
          <ac:graphicFrameMkLst>
            <pc:docMk/>
            <pc:sldMk cId="1836707675" sldId="258"/>
            <ac:graphicFrameMk id="5" creationId="{3E0CF631-E208-0214-6268-4795C6FA6BD6}"/>
          </ac:graphicFrameMkLst>
        </pc:graphicFrameChg>
        <pc:graphicFrameChg chg="mod">
          <ac:chgData name="Beacon Hope" userId="181eac675c641a7c" providerId="LiveId" clId="{76E44806-494F-436A-B8C0-A83D49D02F07}" dt="2026-03-16T13:43:35.336" v="1246" actId="1076"/>
          <ac:graphicFrameMkLst>
            <pc:docMk/>
            <pc:sldMk cId="1836707675" sldId="258"/>
            <ac:graphicFrameMk id="6" creationId="{7719DACC-3545-505C-837F-51D5E1C2F3AA}"/>
          </ac:graphicFrameMkLst>
        </pc:graphicFrameChg>
      </pc:sldChg>
      <pc:sldChg chg="addSp delSp modSp mod setBg">
        <pc:chgData name="Beacon Hope" userId="181eac675c641a7c" providerId="LiveId" clId="{76E44806-494F-436A-B8C0-A83D49D02F07}" dt="2026-03-16T13:44:30.109" v="1250" actId="1076"/>
        <pc:sldMkLst>
          <pc:docMk/>
          <pc:sldMk cId="1844297273" sldId="259"/>
        </pc:sldMkLst>
        <pc:spChg chg="mod">
          <ac:chgData name="Beacon Hope" userId="181eac675c641a7c" providerId="LiveId" clId="{76E44806-494F-436A-B8C0-A83D49D02F07}" dt="2026-03-16T13:44:30.109" v="1250" actId="1076"/>
          <ac:spMkLst>
            <pc:docMk/>
            <pc:sldMk cId="1844297273" sldId="259"/>
            <ac:spMk id="2" creationId="{DC98B793-114A-BD01-FFC7-45FDCFFF4290}"/>
          </ac:spMkLst>
        </pc:spChg>
        <pc:graphicFrameChg chg="mod">
          <ac:chgData name="Beacon Hope" userId="181eac675c641a7c" providerId="LiveId" clId="{76E44806-494F-436A-B8C0-A83D49D02F07}" dt="2026-03-16T13:20:39.552" v="1136" actId="1076"/>
          <ac:graphicFrameMkLst>
            <pc:docMk/>
            <pc:sldMk cId="1844297273" sldId="259"/>
            <ac:graphicFrameMk id="3" creationId="{F090070C-F21E-5272-2291-CFD680CDCDA8}"/>
          </ac:graphicFrameMkLst>
        </pc:graphicFrameChg>
        <pc:graphicFrameChg chg="add del mod">
          <ac:chgData name="Beacon Hope" userId="181eac675c641a7c" providerId="LiveId" clId="{76E44806-494F-436A-B8C0-A83D49D02F07}" dt="2026-03-16T13:11:53.592" v="1082" actId="14100"/>
          <ac:graphicFrameMkLst>
            <pc:docMk/>
            <pc:sldMk cId="1844297273" sldId="259"/>
            <ac:graphicFrameMk id="4" creationId="{B233D3F3-BA43-D61A-1187-2B11177D2D56}"/>
          </ac:graphicFrameMkLst>
        </pc:graphicFrameChg>
      </pc:sldChg>
      <pc:sldChg chg="addSp modSp mod setBg">
        <pc:chgData name="Beacon Hope" userId="181eac675c641a7c" providerId="LiveId" clId="{76E44806-494F-436A-B8C0-A83D49D02F07}" dt="2026-03-16T13:44:42" v="1251" actId="1076"/>
        <pc:sldMkLst>
          <pc:docMk/>
          <pc:sldMk cId="1287576066" sldId="260"/>
        </pc:sldMkLst>
        <pc:spChg chg="mod">
          <ac:chgData name="Beacon Hope" userId="181eac675c641a7c" providerId="LiveId" clId="{76E44806-494F-436A-B8C0-A83D49D02F07}" dt="2026-03-16T13:44:42" v="1251" actId="1076"/>
          <ac:spMkLst>
            <pc:docMk/>
            <pc:sldMk cId="1287576066" sldId="260"/>
            <ac:spMk id="2" creationId="{B8C0F7A4-60B7-3F53-53B4-58360E60991A}"/>
          </ac:spMkLst>
        </pc:spChg>
        <pc:spChg chg="add mod">
          <ac:chgData name="Beacon Hope" userId="181eac675c641a7c" providerId="LiveId" clId="{76E44806-494F-436A-B8C0-A83D49D02F07}" dt="2026-03-16T11:50:57.606" v="603" actId="692"/>
          <ac:spMkLst>
            <pc:docMk/>
            <pc:sldMk cId="1287576066" sldId="260"/>
            <ac:spMk id="7" creationId="{19BE7325-576A-E718-CD5F-A5519A1D4A60}"/>
          </ac:spMkLst>
        </pc:spChg>
        <pc:graphicFrameChg chg="mod">
          <ac:chgData name="Beacon Hope" userId="181eac675c641a7c" providerId="LiveId" clId="{76E44806-494F-436A-B8C0-A83D49D02F07}" dt="2026-03-16T13:41:41.561" v="1233" actId="1076"/>
          <ac:graphicFrameMkLst>
            <pc:docMk/>
            <pc:sldMk cId="1287576066" sldId="260"/>
            <ac:graphicFrameMk id="3" creationId="{8B69366C-8496-28B4-CD4D-439E4582ECD4}"/>
          </ac:graphicFrameMkLst>
        </pc:graphicFrameChg>
        <pc:graphicFrameChg chg="mod">
          <ac:chgData name="Beacon Hope" userId="181eac675c641a7c" providerId="LiveId" clId="{76E44806-494F-436A-B8C0-A83D49D02F07}" dt="2026-03-16T13:42:32.144" v="1239" actId="1076"/>
          <ac:graphicFrameMkLst>
            <pc:docMk/>
            <pc:sldMk cId="1287576066" sldId="260"/>
            <ac:graphicFrameMk id="5" creationId="{C03FC259-DFB9-AADB-DBAE-E071AE69C759}"/>
          </ac:graphicFrameMkLst>
        </pc:graphicFrameChg>
        <pc:graphicFrameChg chg="mod">
          <ac:chgData name="Beacon Hope" userId="181eac675c641a7c" providerId="LiveId" clId="{76E44806-494F-436A-B8C0-A83D49D02F07}" dt="2026-03-16T13:42:25.029" v="1238" actId="1076"/>
          <ac:graphicFrameMkLst>
            <pc:docMk/>
            <pc:sldMk cId="1287576066" sldId="260"/>
            <ac:graphicFrameMk id="6" creationId="{58DB43A2-5E86-E695-486A-E82BE91FAE1E}"/>
          </ac:graphicFrameMkLst>
        </pc:graphicFrameChg>
      </pc:sldChg>
      <pc:sldChg chg="addSp modSp mod setBg">
        <pc:chgData name="Beacon Hope" userId="181eac675c641a7c" providerId="LiveId" clId="{76E44806-494F-436A-B8C0-A83D49D02F07}" dt="2026-03-16T13:44:58.962" v="1254" actId="12788"/>
        <pc:sldMkLst>
          <pc:docMk/>
          <pc:sldMk cId="1899549131" sldId="261"/>
        </pc:sldMkLst>
        <pc:spChg chg="mod">
          <ac:chgData name="Beacon Hope" userId="181eac675c641a7c" providerId="LiveId" clId="{76E44806-494F-436A-B8C0-A83D49D02F07}" dt="2026-03-16T13:44:58.962" v="1254" actId="12788"/>
          <ac:spMkLst>
            <pc:docMk/>
            <pc:sldMk cId="1899549131" sldId="261"/>
            <ac:spMk id="2" creationId="{8E2B430C-8EBF-B8F9-968D-BAD2D3FA1A1F}"/>
          </ac:spMkLst>
        </pc:spChg>
        <pc:spChg chg="add mod">
          <ac:chgData name="Beacon Hope" userId="181eac675c641a7c" providerId="LiveId" clId="{76E44806-494F-436A-B8C0-A83D49D02F07}" dt="2026-03-16T13:28:12.258" v="1225" actId="20577"/>
          <ac:spMkLst>
            <pc:docMk/>
            <pc:sldMk cId="1899549131" sldId="261"/>
            <ac:spMk id="3" creationId="{794CCE69-D61B-C870-6FF1-B1B8F36769C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1eac675c641a7c/Documents/Analyst_Test_Dataset_IsmailOlatunj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1eac675c641a7c/Documents/Analyst_Test_Dataset_IsmailOlatunji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1eac675c641a7c/Documents/Analyst_Test_Dataset_IsmailOlatunji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1eac675c641a7c/Documents/Analyst_Test_Dataset_IsmailOlatunji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1eac675c641a7c/Documents/Analyst_Test_Dataset_IsmailOlatunji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1eac675c641a7c/Documents/Analyst_Test_Dataset_IsmailOlatunji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1eac675c641a7c/Documents/Analyst_Test_Dataset_IsmailOlatunji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Total Fundraising Income by Campaign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5788829191014774"/>
          <c:y val="0.10401843276860087"/>
          <c:w val="0.48704780030321282"/>
          <c:h val="0.8651322072838496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Campaign_Performance!$I$3</c:f>
              <c:strCache>
                <c:ptCount val="1"/>
                <c:pt idx="0">
                  <c:v> Total Income </c:v>
                </c:pt>
              </c:strCache>
            </c:strRef>
          </c:tx>
          <c:spPr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dLbls>
            <c:numFmt formatCode="\£0,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l"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Campaign_Performance!$H$4:$H$13</c:f>
              <c:strCache>
                <c:ptCount val="10"/>
                <c:pt idx="0">
                  <c:v>Winter Appeal 2024</c:v>
                </c:pt>
                <c:pt idx="1">
                  <c:v>Summer Gala 2024</c:v>
                </c:pt>
                <c:pt idx="2">
                  <c:v>Digital Acquisition Spring</c:v>
                </c:pt>
                <c:pt idx="3">
                  <c:v>Annual Report Mailing</c:v>
                </c:pt>
                <c:pt idx="4">
                  <c:v>Spring Raffle 2025</c:v>
                </c:pt>
                <c:pt idx="5">
                  <c:v>Christmas Gift Catalogue</c:v>
                </c:pt>
                <c:pt idx="6">
                  <c:v>Monthly Giving Drive Q1</c:v>
                </c:pt>
                <c:pt idx="7">
                  <c:v>Emergency Appeal - Flood Relief</c:v>
                </c:pt>
                <c:pt idx="8">
                  <c:v>Volunteer Thank You Dinner</c:v>
                </c:pt>
                <c:pt idx="9">
                  <c:v>Legacy Awareness Week</c:v>
                </c:pt>
              </c:strCache>
            </c:strRef>
          </c:cat>
          <c:val>
            <c:numRef>
              <c:f>Campaign_Performance!$I$4:$I$13</c:f>
              <c:numCache>
                <c:formatCode>_-[$£-809]* #,##0.00_-;\-[$£-809]* #,##0.00_-;_-[$£-809]* "-"??_-;_-@_-</c:formatCode>
                <c:ptCount val="10"/>
                <c:pt idx="0">
                  <c:v>109036.06250000009</c:v>
                </c:pt>
                <c:pt idx="1">
                  <c:v>66208.055000000037</c:v>
                </c:pt>
                <c:pt idx="2">
                  <c:v>58237.210000000006</c:v>
                </c:pt>
                <c:pt idx="3">
                  <c:v>45578.637500000019</c:v>
                </c:pt>
                <c:pt idx="4">
                  <c:v>33612.587500000001</c:v>
                </c:pt>
                <c:pt idx="5">
                  <c:v>29262.817499999997</c:v>
                </c:pt>
                <c:pt idx="6">
                  <c:v>29077.237499999992</c:v>
                </c:pt>
                <c:pt idx="7">
                  <c:v>27002.600000000002</c:v>
                </c:pt>
                <c:pt idx="8">
                  <c:v>24850.99</c:v>
                </c:pt>
                <c:pt idx="9">
                  <c:v>14098.385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45-4C91-A03B-506C59DE0E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96889168"/>
        <c:axId val="196909808"/>
      </c:barChart>
      <c:catAx>
        <c:axId val="1968891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96909808"/>
        <c:crosses val="autoZero"/>
        <c:auto val="1"/>
        <c:lblAlgn val="ctr"/>
        <c:lblOffset val="100"/>
        <c:noMultiLvlLbl val="0"/>
      </c:catAx>
      <c:valAx>
        <c:axId val="196909808"/>
        <c:scaling>
          <c:orientation val="minMax"/>
        </c:scaling>
        <c:delete val="1"/>
        <c:axPos val="t"/>
        <c:numFmt formatCode="\£0,\ &quot;K&quot;" sourceLinked="0"/>
        <c:majorTickMark val="none"/>
        <c:minorTickMark val="none"/>
        <c:tickLblPos val="nextTo"/>
        <c:crossAx val="19688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Campaign Return on Investment (ROI)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Campaign_ROI!$J$3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Campaign_ROI!$I$4:$I$13</c:f>
              <c:strCache>
                <c:ptCount val="10"/>
                <c:pt idx="0">
                  <c:v>Volunteer Thank You Dinner</c:v>
                </c:pt>
                <c:pt idx="1">
                  <c:v>Annual Report Mailing</c:v>
                </c:pt>
                <c:pt idx="2">
                  <c:v>Winter Appeal 2024</c:v>
                </c:pt>
                <c:pt idx="3">
                  <c:v>Spring Raffle 2025</c:v>
                </c:pt>
                <c:pt idx="4">
                  <c:v>Digital Acquisition Spring</c:v>
                </c:pt>
                <c:pt idx="5">
                  <c:v>Monthly Giving Drive Q1</c:v>
                </c:pt>
                <c:pt idx="6">
                  <c:v>Legacy Awareness Week</c:v>
                </c:pt>
                <c:pt idx="7">
                  <c:v>Christmas Gift Catalogue</c:v>
                </c:pt>
                <c:pt idx="8">
                  <c:v>Emergency Appeal - Flood Relief</c:v>
                </c:pt>
                <c:pt idx="9">
                  <c:v>Summer Gala 2024</c:v>
                </c:pt>
              </c:strCache>
            </c:strRef>
          </c:cat>
          <c:val>
            <c:numRef>
              <c:f>Campaign_ROI!$J$4:$J$13</c:f>
              <c:numCache>
                <c:formatCode>0.0"x"</c:formatCode>
                <c:ptCount val="10"/>
                <c:pt idx="0">
                  <c:v>6.100282857142858</c:v>
                </c:pt>
                <c:pt idx="1">
                  <c:v>5.5112339285714302</c:v>
                </c:pt>
                <c:pt idx="2">
                  <c:v>3.3614425000000034</c:v>
                </c:pt>
                <c:pt idx="3">
                  <c:v>3.2015734375</c:v>
                </c:pt>
                <c:pt idx="4">
                  <c:v>1.9118605</c:v>
                </c:pt>
                <c:pt idx="5">
                  <c:v>1.9077237499999993</c:v>
                </c:pt>
                <c:pt idx="6">
                  <c:v>1.819677</c:v>
                </c:pt>
                <c:pt idx="7">
                  <c:v>1.4385681249999998</c:v>
                </c:pt>
                <c:pt idx="8">
                  <c:v>0.80017333333333351</c:v>
                </c:pt>
                <c:pt idx="9">
                  <c:v>0.47129011111111191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B-42CD-8D1C-F74FFFA5C1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126666767"/>
        <c:axId val="2126665807"/>
      </c:barChart>
      <c:catAx>
        <c:axId val="212666676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2126665807"/>
        <c:crosses val="autoZero"/>
        <c:auto val="1"/>
        <c:lblAlgn val="ctr"/>
        <c:lblOffset val="100"/>
        <c:noMultiLvlLbl val="0"/>
      </c:catAx>
      <c:valAx>
        <c:axId val="2126665807"/>
        <c:scaling>
          <c:orientation val="minMax"/>
        </c:scaling>
        <c:delete val="1"/>
        <c:axPos val="t"/>
        <c:numFmt formatCode="0.0&quot;x&quot;" sourceLinked="1"/>
        <c:majorTickMark val="none"/>
        <c:minorTickMark val="none"/>
        <c:tickLblPos val="nextTo"/>
        <c:crossAx val="2126666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Total Fundraising Income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287966164223524"/>
          <c:y val="0.11357176456990464"/>
          <c:w val="0.87712033835776471"/>
          <c:h val="0.74859464919239871"/>
        </c:manualLayout>
      </c:layout>
      <c:barChart>
        <c:barDir val="col"/>
        <c:grouping val="clustered"/>
        <c:varyColors val="0"/>
        <c:ser>
          <c:idx val="0"/>
          <c:order val="0"/>
          <c:tx>
            <c:v>Income</c:v>
          </c:tx>
          <c:spPr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dLbls>
            <c:numFmt formatCode="\£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Channel_Performance!$I$4:$I$9</c:f>
              <c:strCache>
                <c:ptCount val="6"/>
                <c:pt idx="0">
                  <c:v>Email</c:v>
                </c:pt>
                <c:pt idx="1">
                  <c:v>Direct Mail</c:v>
                </c:pt>
                <c:pt idx="2">
                  <c:v>Digital</c:v>
                </c:pt>
                <c:pt idx="3">
                  <c:v>SMS</c:v>
                </c:pt>
                <c:pt idx="4">
                  <c:v>Social Media</c:v>
                </c:pt>
                <c:pt idx="5">
                  <c:v>Telephone</c:v>
                </c:pt>
              </c:strCache>
            </c:strRef>
          </c:cat>
          <c:val>
            <c:numRef>
              <c:f>Channel_Performance!$J$4:$J$9</c:f>
              <c:numCache>
                <c:formatCode>_-[$£-809]* #,##0_-;\-[$£-809]* #,##0_-;_-[$£-809]* "-"??_-;_-@_-</c:formatCode>
                <c:ptCount val="6"/>
                <c:pt idx="0">
                  <c:v>148770.54249999998</c:v>
                </c:pt>
                <c:pt idx="1">
                  <c:v>138412.22750000004</c:v>
                </c:pt>
                <c:pt idx="2">
                  <c:v>95968.059999999954</c:v>
                </c:pt>
                <c:pt idx="3">
                  <c:v>33698.287500000013</c:v>
                </c:pt>
                <c:pt idx="4">
                  <c:v>17777.630000000005</c:v>
                </c:pt>
                <c:pt idx="5">
                  <c:v>2337.835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5-4FDF-AB28-651CFA8D76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126683087"/>
        <c:axId val="2126669647"/>
      </c:barChart>
      <c:catAx>
        <c:axId val="2126683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2126669647"/>
        <c:crosses val="autoZero"/>
        <c:auto val="1"/>
        <c:lblAlgn val="ctr"/>
        <c:lblOffset val="100"/>
        <c:noMultiLvlLbl val="0"/>
      </c:catAx>
      <c:valAx>
        <c:axId val="2126669647"/>
        <c:scaling>
          <c:orientation val="minMax"/>
        </c:scaling>
        <c:delete val="1"/>
        <c:axPos val="l"/>
        <c:numFmt formatCode="_-[$£-809]* #,##0_-;\-[$£-809]* #,##0_-;_-[$£-809]* &quot;-&quot;??_-;_-@_-" sourceLinked="1"/>
        <c:majorTickMark val="none"/>
        <c:minorTickMark val="none"/>
        <c:tickLblPos val="nextTo"/>
        <c:crossAx val="2126683087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[Analyst_Test_Dataset_IsmailOlatunji.xlsx]Segment_Performance!PivotTable13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Total Fundraising Income by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Segment_Performance!$B$3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83B3-4FEC-8FDA-92506869EA6C}"/>
              </c:ext>
            </c:extLst>
          </c:dPt>
          <c:dLbls>
            <c:numFmt formatCode="\£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Segment_Performance!$A$4:$A$11</c:f>
              <c:strCache>
                <c:ptCount val="7"/>
                <c:pt idx="0">
                  <c:v>Major Donor</c:v>
                </c:pt>
                <c:pt idx="1">
                  <c:v>One-Time Donor</c:v>
                </c:pt>
                <c:pt idx="2">
                  <c:v>Legacy Pledger</c:v>
                </c:pt>
                <c:pt idx="3">
                  <c:v>Mid-Value</c:v>
                </c:pt>
                <c:pt idx="4">
                  <c:v>Lapsed</c:v>
                </c:pt>
                <c:pt idx="5">
                  <c:v>Regular Giver</c:v>
                </c:pt>
                <c:pt idx="6">
                  <c:v>Prospect</c:v>
                </c:pt>
              </c:strCache>
            </c:strRef>
          </c:cat>
          <c:val>
            <c:numRef>
              <c:f>Segment_Performance!$B$4:$B$11</c:f>
              <c:numCache>
                <c:formatCode>_-[$£-809]* #,##0_-;\-[$£-809]* #,##0_-;_-[$£-809]* "-"??_-;_-@_-</c:formatCode>
                <c:ptCount val="7"/>
                <c:pt idx="0">
                  <c:v>288703.38499999978</c:v>
                </c:pt>
                <c:pt idx="1">
                  <c:v>61706.267500000009</c:v>
                </c:pt>
                <c:pt idx="2">
                  <c:v>42279.602500000008</c:v>
                </c:pt>
                <c:pt idx="3">
                  <c:v>19012.185000000005</c:v>
                </c:pt>
                <c:pt idx="4">
                  <c:v>7626.1224999999949</c:v>
                </c:pt>
                <c:pt idx="5">
                  <c:v>4894.9474999999984</c:v>
                </c:pt>
                <c:pt idx="6">
                  <c:v>2776.6150000000016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07-42B9-A7AF-544812D254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90579296"/>
        <c:axId val="190596096"/>
      </c:barChart>
      <c:catAx>
        <c:axId val="1905792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90596096"/>
        <c:crosses val="autoZero"/>
        <c:auto val="1"/>
        <c:lblAlgn val="ctr"/>
        <c:lblOffset val="100"/>
        <c:noMultiLvlLbl val="0"/>
      </c:catAx>
      <c:valAx>
        <c:axId val="190596096"/>
        <c:scaling>
          <c:orientation val="minMax"/>
        </c:scaling>
        <c:delete val="1"/>
        <c:axPos val="l"/>
        <c:numFmt formatCode="_-[$£-809]* #,##0_-;\-[$£-809]* #,##0_-;_-[$£-809]* &quot;-&quot;??_-;_-@_-" sourceLinked="1"/>
        <c:majorTickMark val="out"/>
        <c:minorTickMark val="none"/>
        <c:tickLblPos val="nextTo"/>
        <c:crossAx val="190579296"/>
        <c:crosses val="autoZero"/>
        <c:crossBetween val="between"/>
      </c:val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[Analyst_Test_Dataset_IsmailOlatunji.xlsx]Age_Demographics!PivotTable16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0">
                <a:solidFill>
                  <a:schemeClr val="tx1"/>
                </a:solidFill>
              </a:rPr>
              <a:t>Total Fundraising Income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Age_Demographics!$B$3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\£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Age_Demographics!$A$4:$A$8</c:f>
              <c:strCache>
                <c:ptCount val="4"/>
                <c:pt idx="0">
                  <c:v>18-34</c:v>
                </c:pt>
                <c:pt idx="1">
                  <c:v>35-49</c:v>
                </c:pt>
                <c:pt idx="2">
                  <c:v>50-64</c:v>
                </c:pt>
                <c:pt idx="3">
                  <c:v>65+</c:v>
                </c:pt>
              </c:strCache>
            </c:strRef>
          </c:cat>
          <c:val>
            <c:numRef>
              <c:f>Age_Demographics!$B$4:$B$8</c:f>
              <c:numCache>
                <c:formatCode>_-[$£-809]* #,##0_-;\-[$£-809]* #,##0_-;_-[$£-809]* "-"??_-;_-@_-</c:formatCode>
                <c:ptCount val="4"/>
                <c:pt idx="0">
                  <c:v>27482.904999999995</c:v>
                </c:pt>
                <c:pt idx="1">
                  <c:v>118078.85499999998</c:v>
                </c:pt>
                <c:pt idx="2">
                  <c:v>149208.47000000006</c:v>
                </c:pt>
                <c:pt idx="3">
                  <c:v>109077.04250000004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46-44F2-8221-110E45A61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93280768"/>
        <c:axId val="193289888"/>
      </c:barChart>
      <c:catAx>
        <c:axId val="193280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289888"/>
        <c:crosses val="autoZero"/>
        <c:auto val="1"/>
        <c:lblAlgn val="ctr"/>
        <c:lblOffset val="100"/>
        <c:noMultiLvlLbl val="0"/>
      </c:catAx>
      <c:valAx>
        <c:axId val="193289888"/>
        <c:scaling>
          <c:orientation val="minMax"/>
        </c:scaling>
        <c:delete val="1"/>
        <c:axPos val="l"/>
        <c:numFmt formatCode="_-[$£-809]* #,##0_-;\-[$£-809]* #,##0_-;_-[$£-809]* &quot;-&quot;??_-;_-@_-" sourceLinked="1"/>
        <c:majorTickMark val="none"/>
        <c:minorTickMark val="none"/>
        <c:tickLblPos val="nextTo"/>
        <c:crossAx val="19328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[Analyst_Test_Dataset_IsmailOlatunji.xlsx]Geography_Analysis!PivotTable15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Bottom 5 Counties by Fundraising Income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.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.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.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Geography_Analysis!$L$4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\£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Geography_Analysis!$K$5:$K$10</c:f>
              <c:strCache>
                <c:ptCount val="5"/>
                <c:pt idx="0">
                  <c:v>Bedfordshire</c:v>
                </c:pt>
                <c:pt idx="1">
                  <c:v>Lothian</c:v>
                </c:pt>
                <c:pt idx="2">
                  <c:v>Somerset</c:v>
                </c:pt>
                <c:pt idx="3">
                  <c:v>Antrim</c:v>
                </c:pt>
                <c:pt idx="4">
                  <c:v>Cheshire</c:v>
                </c:pt>
              </c:strCache>
            </c:strRef>
          </c:cat>
          <c:val>
            <c:numRef>
              <c:f>Geography_Analysis!$L$5:$L$10</c:f>
              <c:numCache>
                <c:formatCode>_-[$£-809]* #,##0_-;\-[$£-809]* #,##0_-;_-[$£-809]* "-"??_-;_-@_-</c:formatCode>
                <c:ptCount val="5"/>
                <c:pt idx="0">
                  <c:v>1135.095</c:v>
                </c:pt>
                <c:pt idx="1">
                  <c:v>1231.1899999999998</c:v>
                </c:pt>
                <c:pt idx="2">
                  <c:v>1421.85</c:v>
                </c:pt>
                <c:pt idx="3">
                  <c:v>1467.5549999999998</c:v>
                </c:pt>
                <c:pt idx="4">
                  <c:v>2003.8675000000001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F0-4107-9099-A58A76AD70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931299248"/>
        <c:axId val="1931301648"/>
      </c:barChart>
      <c:catAx>
        <c:axId val="1931299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1301648"/>
        <c:crosses val="autoZero"/>
        <c:auto val="1"/>
        <c:lblAlgn val="ctr"/>
        <c:lblOffset val="100"/>
        <c:noMultiLvlLbl val="0"/>
      </c:catAx>
      <c:valAx>
        <c:axId val="1931301648"/>
        <c:scaling>
          <c:orientation val="minMax"/>
        </c:scaling>
        <c:delete val="1"/>
        <c:axPos val="l"/>
        <c:numFmt formatCode="_-[$£-809]* #,##0_-;\-[$£-809]* #,##0_-;_-[$£-809]* &quot;-&quot;??_-;_-@_-" sourceLinked="1"/>
        <c:majorTickMark val="none"/>
        <c:minorTickMark val="none"/>
        <c:tickLblPos val="nextTo"/>
        <c:crossAx val="1931299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[Analyst_Test_Dataset_IsmailOlatunji.xlsx]Geography_Analysis!PivotTable14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Top 5 Counties by Fundraising Income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.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.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\£0.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Geography_Analysis!$B$3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\£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Geography_Analysis!$A$4:$A$9</c:f>
              <c:strCache>
                <c:ptCount val="5"/>
                <c:pt idx="0">
                  <c:v>South Glamorgan</c:v>
                </c:pt>
                <c:pt idx="1">
                  <c:v>Hampshire</c:v>
                </c:pt>
                <c:pt idx="2">
                  <c:v>Oxfordshire</c:v>
                </c:pt>
                <c:pt idx="3">
                  <c:v>Norfolk</c:v>
                </c:pt>
                <c:pt idx="4">
                  <c:v>Strathclyde</c:v>
                </c:pt>
              </c:strCache>
            </c:strRef>
          </c:cat>
          <c:val>
            <c:numRef>
              <c:f>Geography_Analysis!$B$4:$B$9</c:f>
              <c:numCache>
                <c:formatCode>_-[$£-809]* #,##0_-;\-[$£-809]* #,##0_-;_-[$£-809]* "-"??_-;_-@_-</c:formatCode>
                <c:ptCount val="5"/>
                <c:pt idx="0">
                  <c:v>64927.262499999983</c:v>
                </c:pt>
                <c:pt idx="1">
                  <c:v>32750.224999999995</c:v>
                </c:pt>
                <c:pt idx="2">
                  <c:v>27808.1325</c:v>
                </c:pt>
                <c:pt idx="3">
                  <c:v>24859.749999999996</c:v>
                </c:pt>
                <c:pt idx="4">
                  <c:v>24157.062500000007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50-4172-9007-AC1C4ABAA2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337542944"/>
        <c:axId val="337543424"/>
      </c:barChart>
      <c:catAx>
        <c:axId val="33754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337543424"/>
        <c:crosses val="autoZero"/>
        <c:auto val="1"/>
        <c:lblAlgn val="ctr"/>
        <c:lblOffset val="100"/>
        <c:noMultiLvlLbl val="0"/>
      </c:catAx>
      <c:valAx>
        <c:axId val="337543424"/>
        <c:scaling>
          <c:orientation val="minMax"/>
        </c:scaling>
        <c:delete val="1"/>
        <c:axPos val="l"/>
        <c:numFmt formatCode="_-[$£-809]* #,##0_-;\-[$£-809]* #,##0_-;_-[$£-809]* &quot;-&quot;??_-;_-@_-" sourceLinked="1"/>
        <c:majorTickMark val="none"/>
        <c:minorTickMark val="none"/>
        <c:tickLblPos val="nextTo"/>
        <c:crossAx val="337542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844FA-15AF-4CF3-8E60-1DE5C6010A26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A51ED-7128-44A7-80A7-A58F3BA826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21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6373-058A-CAAF-B404-8C98A873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2EFE2-A6BE-D85D-5354-EB79FAFC2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11247-9605-5BFB-09FB-15241D96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A7FBD-4707-452F-BF2D-BC5A541968DC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21D89-F6E0-23DE-FFFB-5B388571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E4B7F-66E6-EE37-2CEB-DCF9E0E3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F80A-69AC-20E9-76CF-BE3BCEA2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A9016-3F98-8682-1373-249E614E1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30EB-46C6-C99C-B6DD-060A84BE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6B2FD-4BCA-4E0C-B11B-535303910AA9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B01FC-37B0-9255-8C6C-8B1A00947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F3FBD-75A3-32AD-57C2-3914EC94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9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24C8-70AE-19A0-E1CB-20F54F94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2D21C-5A33-9121-1C1C-A91496D6C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A16FC-1505-3791-992C-0292E9815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AFFEC-AD37-4C9F-9040-E834A42C0BE3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19931-B42E-1BE8-3C37-4D5949A4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7DB4E-2866-267B-A1B5-EA7C575D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E515-4EF8-81E8-75A8-AB92D96E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850B-ED7A-292F-F2F8-385583FEE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6FFC4-625A-6552-C191-E64F2C5A9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C07ED-0AE4-1576-A382-6697BE9F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AE6E-9064-4E3F-99AB-D1942110B47B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76C1D-125B-CF56-ABFB-97A5996DE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F35CC-5FCB-122F-6538-6D0F82AD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8536-8572-7F41-CB2B-F6A556C6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E9E80-A281-646C-117D-D3AA928C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94B7A-4ABD-94E4-BD05-4AE221D71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001228-BC28-93F6-03BC-BECED93D9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D1B01-1A69-B4FF-BB6A-53B79E04F3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2C0A5-5A67-F341-B467-1BE7AC5F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9783-9969-46B7-8745-EC80F4692E05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880F06-F6DA-F047-5EA9-0C4402AC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354F5-479C-FF3F-7733-7C468BA3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6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27DA-6DF1-9121-5258-9A1F32D2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AFA2C-9E60-D14A-DFAB-CED61133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42978-9D45-455C-9ED6-DC2358B8FE67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5F5C1-E21D-EB76-B488-7ABE1A3E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D6F6C-E436-C285-A259-585F9AA6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6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7EC649-CBD2-5595-275E-FB74BA77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DFE0-2347-499D-8E59-124611E2B9E5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B2024-A0E3-CF3B-57DA-E1F22F45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692E-5241-088D-7361-8EFC3967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195A-89F7-A244-DD07-D275C0D6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21BE5-0E94-C6C2-95BE-66FE40E2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C4A2B-8ECF-7440-1E32-8C57C0F24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B5880-B938-36C4-87ED-D6C93DA6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F940-D6AA-41DE-9FFB-A6703615E450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5ED5E-6189-D7AC-B6AF-FA009C883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EF094-0502-3CFA-67E5-F25FFF1B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4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B3CC-15A1-B924-7D33-372B700FF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00631-B9D5-34AD-6712-E0888D664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BFDAC-FC29-A86C-C080-9FBC8F968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78165-3192-5E9D-46EE-4C2AC373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2D6D-57E6-4DB4-AA6E-92E20F7671F9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9E468-C830-724D-00C0-0E7CD7AB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2299B-2278-4733-12C8-DF1921D1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8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6304C-9D50-390B-DE4D-E89EA881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92DB4-7AB0-C863-19B8-F3E774407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F6879-944B-504F-6ECD-4745E41C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E8139-2518-4CEF-8036-EBD974E85C68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70F3-1E72-C9CA-66B5-4EDEE3C4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08623-16E6-81F2-E8AE-C0253DE1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1D205-29C7-90BC-F53D-B00D0DFF7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BEC85-B55F-2933-6351-42241A480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67723-B43A-C6F5-530F-ED9A3EA8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8D83-9B83-4F35-B5D3-29117CF095DB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35598-75FF-F70C-F047-B0FD8FD0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021E9-D07D-5A72-9512-9D0A9796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3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C3884-2177-D740-2885-3ABCC31BB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9C90-1911-9F74-E299-79EC8CB2F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AC2A8-3001-CBB9-D96C-FFAF7D1C2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9952A-A957-49FC-9FD4-478F1AB24CB4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D7B7B-BFFF-DAE5-3E1D-9B3686E06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Analysis based on 908 campaign responses across 10 campaigns — June 2024 to April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CBB91-E55B-5696-2356-0F664A73F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9D096-3682-434F-9271-9D774053B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30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3ECE-D856-990D-742E-D5064E425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181" y="290060"/>
            <a:ext cx="11507638" cy="628740"/>
          </a:xfrm>
        </p:spPr>
        <p:txBody>
          <a:bodyPr>
            <a:noAutofit/>
          </a:bodyPr>
          <a:lstStyle/>
          <a:p>
            <a:r>
              <a:rPr lang="en-US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FUNDRAISING CAMPAIGN PERFORMANCE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CB79B-BF42-4A30-E21A-8AB9E395EADB}"/>
              </a:ext>
            </a:extLst>
          </p:cNvPr>
          <p:cNvSpPr txBox="1"/>
          <p:nvPr/>
        </p:nvSpPr>
        <p:spPr>
          <a:xfrm>
            <a:off x="4199454" y="1185558"/>
            <a:ext cx="3793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Ismail Olatunji | 17 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3D34E-4E40-39A8-6BF4-F90627BD3C0E}"/>
              </a:ext>
            </a:extLst>
          </p:cNvPr>
          <p:cNvSpPr txBox="1"/>
          <p:nvPr/>
        </p:nvSpPr>
        <p:spPr>
          <a:xfrm>
            <a:off x="1857829" y="2719557"/>
            <a:ext cx="957942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evaluate recent fundraising campaigns and identify: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performing well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underperforming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Opportunities to improve future fundraising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2701C1-9F6E-E3CD-E0DD-D3245B51CDA5}"/>
              </a:ext>
            </a:extLst>
          </p:cNvPr>
          <p:cNvSpPr txBox="1"/>
          <p:nvPr/>
        </p:nvSpPr>
        <p:spPr>
          <a:xfrm>
            <a:off x="1857829" y="4606377"/>
            <a:ext cx="9579428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Questions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campaigns generated the most income?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campaigns delivered the best return on investment (ROI)?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performance vary by channel and donor segment?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there demographic or geographic patterns in donor behaviour?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actions could strengthen future fundraising campaigns?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5CF20-C21C-490A-EDDC-F9B21508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9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CA718-7F37-B857-323A-35176BCA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FCC3-D99A-73A0-59A2-97184C63B094}"/>
              </a:ext>
            </a:extLst>
          </p:cNvPr>
          <p:cNvSpPr txBox="1">
            <a:spLocks/>
          </p:cNvSpPr>
          <p:nvPr/>
        </p:nvSpPr>
        <p:spPr>
          <a:xfrm>
            <a:off x="2174404" y="127343"/>
            <a:ext cx="8243978" cy="6287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campaigns generated the most income and ROI?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E0CF631-E208-0214-6268-4795C6FA6B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7265819"/>
              </p:ext>
            </p:extLst>
          </p:nvPr>
        </p:nvGraphicFramePr>
        <p:xfrm>
          <a:off x="473301" y="1349829"/>
          <a:ext cx="4843463" cy="4528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719DACC-3545-505C-837F-51D5E1C2F3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6966947"/>
              </p:ext>
            </p:extLst>
          </p:nvPr>
        </p:nvGraphicFramePr>
        <p:xfrm>
          <a:off x="6991351" y="1349828"/>
          <a:ext cx="4843463" cy="4528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42D04-0233-9C2B-6654-8204BF66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12689" y="6356350"/>
            <a:ext cx="6366622" cy="365125"/>
          </a:xfrm>
        </p:spPr>
        <p:txBody>
          <a:bodyPr/>
          <a:lstStyle/>
          <a:p>
            <a:r>
              <a:rPr lang="en-US" dirty="0"/>
              <a:t>Source: Internal campaign dataset - 908 responses across 10 campaigns (Jun 2024 - Apr 2025)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55733-93B0-AC5B-3BDD-23144FCD3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0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254BB-E0CC-86EE-3E45-09415072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8B793-114A-BD01-FFC7-45FDCFFF4290}"/>
              </a:ext>
            </a:extLst>
          </p:cNvPr>
          <p:cNvSpPr txBox="1">
            <a:spLocks/>
          </p:cNvSpPr>
          <p:nvPr/>
        </p:nvSpPr>
        <p:spPr>
          <a:xfrm>
            <a:off x="1504967" y="138024"/>
            <a:ext cx="9182065" cy="6287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performance vary by Channel and Donor Segment?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090070C-F21E-5272-2291-CFD680CDC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2113984"/>
              </p:ext>
            </p:extLst>
          </p:nvPr>
        </p:nvGraphicFramePr>
        <p:xfrm>
          <a:off x="319315" y="1210330"/>
          <a:ext cx="5370286" cy="4706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233D3F3-BA43-D61A-1187-2B11177D2D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992718"/>
              </p:ext>
            </p:extLst>
          </p:nvPr>
        </p:nvGraphicFramePr>
        <p:xfrm>
          <a:off x="6448611" y="1206130"/>
          <a:ext cx="5370286" cy="4706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0832B-DB7C-AB21-6AD9-9E8CEF67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00083" y="6356350"/>
            <a:ext cx="6391835" cy="365125"/>
          </a:xfrm>
        </p:spPr>
        <p:txBody>
          <a:bodyPr/>
          <a:lstStyle/>
          <a:p>
            <a:r>
              <a:rPr lang="en-US" dirty="0"/>
              <a:t>Source: Internal campaign dataset - 908 responses across 10 campaigns (Jun 2024 - Apr 2025)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8E68C-F2D0-7BF2-977A-0639180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9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40E2F-FC3A-BF27-F266-26F9F2A3D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F7A4-60B7-3F53-53B4-58360E60991A}"/>
              </a:ext>
            </a:extLst>
          </p:cNvPr>
          <p:cNvSpPr txBox="1">
            <a:spLocks/>
          </p:cNvSpPr>
          <p:nvPr/>
        </p:nvSpPr>
        <p:spPr>
          <a:xfrm>
            <a:off x="2371544" y="66059"/>
            <a:ext cx="7448911" cy="6287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are our donors and where are they located?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B69366C-8496-28B4-CD4D-439E4582EC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9057913"/>
              </p:ext>
            </p:extLst>
          </p:nvPr>
        </p:nvGraphicFramePr>
        <p:xfrm>
          <a:off x="230867" y="3500934"/>
          <a:ext cx="4737948" cy="2447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03FC259-DFB9-AADB-DBAE-E071AE69C7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9386679"/>
              </p:ext>
            </p:extLst>
          </p:nvPr>
        </p:nvGraphicFramePr>
        <p:xfrm>
          <a:off x="7223186" y="874309"/>
          <a:ext cx="4749738" cy="2447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8DB43A2-5E86-E695-486A-E82BE91FAE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7132122"/>
              </p:ext>
            </p:extLst>
          </p:nvPr>
        </p:nvGraphicFramePr>
        <p:xfrm>
          <a:off x="174173" y="874309"/>
          <a:ext cx="4794642" cy="2447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BE7325-576A-E718-CD5F-A5519A1D4A60}"/>
              </a:ext>
            </a:extLst>
          </p:cNvPr>
          <p:cNvSpPr txBox="1"/>
          <p:nvPr/>
        </p:nvSpPr>
        <p:spPr>
          <a:xfrm>
            <a:off x="5723671" y="3799454"/>
            <a:ext cx="6249253" cy="1754326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Supporters aged 50 and above, particularly Major Donors and Legacy Pledgers responding through email and direct mail, generate the majority of fundraising income.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should anchor the charity's targeting strategy going forward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4EF5E-6467-DC85-C74F-0FD70A41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628" y="6356350"/>
            <a:ext cx="6396745" cy="365125"/>
          </a:xfrm>
        </p:spPr>
        <p:txBody>
          <a:bodyPr/>
          <a:lstStyle/>
          <a:p>
            <a:r>
              <a:rPr lang="en-US" dirty="0"/>
              <a:t>Source: Internal campaign dataset - 908 responses across 10 campaigns (Jun 2024 - Apr 2025)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67E245-42FD-1BD1-7491-4481E4F9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7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AD25A-B288-258C-E133-518D897B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B430C-8EBF-B8F9-968D-BAD2D3FA1A1F}"/>
              </a:ext>
            </a:extLst>
          </p:cNvPr>
          <p:cNvSpPr txBox="1">
            <a:spLocks/>
          </p:cNvSpPr>
          <p:nvPr/>
        </p:nvSpPr>
        <p:spPr>
          <a:xfrm>
            <a:off x="4132772" y="207035"/>
            <a:ext cx="3926456" cy="628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should we do next?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CCE69-D61B-C870-6FF1-B1B8F36769C7}"/>
              </a:ext>
            </a:extLst>
          </p:cNvPr>
          <p:cNvSpPr txBox="1"/>
          <p:nvPr/>
        </p:nvSpPr>
        <p:spPr>
          <a:xfrm>
            <a:off x="1278377" y="1180016"/>
            <a:ext cx="963524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this analysis, five actions could strengthen fundraising performance in future campaigns.</a:t>
            </a: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Priorities campaigns that deliver strong return on investment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high-cost fundraising events such as the Summer Gala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future campaigns on high-performing channels (Email and Direct Mail)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relationships with major donors and legacy supporters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engagement strategies to attract younger supporters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actions focus on strengthening high-performing campaigns while improving efficiency and long-term donor engagement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14484-8012-8E0A-F62B-434979B1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9D096-3682-434F-9271-9D774053BB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49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452</TotalTime>
  <Words>323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FUNDRAISING CAMPAIGN PERFORMANCE REVIEW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Beacon Hope</dc:creator>
  <cp:lastModifiedBy>Ismail Olatunji</cp:lastModifiedBy>
  <cp:revision>2</cp:revision>
  <dcterms:created xsi:type="dcterms:W3CDTF">2026-03-16T08:30:37Z</dcterms:created>
  <dcterms:modified xsi:type="dcterms:W3CDTF">2026-06-03T11:00:00Z</dcterms:modified>
</cp:coreProperties>
</file>